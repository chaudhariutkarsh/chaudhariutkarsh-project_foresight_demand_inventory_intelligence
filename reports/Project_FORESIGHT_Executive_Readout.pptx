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300" r:id="rId5"/>
    <p:sldId id="259" r:id="rId6"/>
    <p:sldId id="297" r:id="rId7"/>
    <p:sldId id="298" r:id="rId8"/>
    <p:sldId id="263" r:id="rId9"/>
    <p:sldId id="264" r:id="rId10"/>
    <p:sldId id="267" r:id="rId11"/>
    <p:sldId id="301" r:id="rId12"/>
    <p:sldId id="302" r:id="rId13"/>
    <p:sldId id="299" r:id="rId14"/>
    <p:sldId id="266" r:id="rId15"/>
    <p:sldId id="269" r:id="rId16"/>
    <p:sldId id="303" r:id="rId17"/>
    <p:sldId id="304" r:id="rId18"/>
    <p:sldId id="271" r:id="rId19"/>
    <p:sldId id="270" r:id="rId20"/>
    <p:sldId id="289" r:id="rId21"/>
    <p:sldId id="296" r:id="rId22"/>
  </p:sldIdLst>
  <p:sldSz cx="18288000" cy="10287000"/>
  <p:notesSz cx="6858000" cy="9144000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Trebuchet MS" panose="020B0603020202020204" pitchFamily="34" charset="0"/>
      <p:regular r:id="rId32"/>
      <p:bold r:id="rId33"/>
      <p:italic r:id="rId34"/>
      <p:boldItalic r:id="rId35"/>
    </p:embeddedFont>
    <p:embeddedFont>
      <p:font typeface="Wingdings 3" panose="050401020108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GveIClTHq0FhCGOX+QGbLJQwW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4A2D96-8923-4C23-B11E-44429DAD8594}">
  <a:tblStyle styleId="{8D4A2D96-8923-4C23-B11E-44429DAD85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>
      <p:cViewPr varScale="1">
        <p:scale>
          <a:sx n="44" d="100"/>
          <a:sy n="44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80097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f1860c1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8f1860c1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4623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8435ee0a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78435ee0a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137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2826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8764c7d6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78764c7d6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598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83269c9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783269c9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558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43901a65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743901a65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8962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e8e56240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g38e8e56240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2654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553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85f2e90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785f2e90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999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45f4caf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3945f4caf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91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0f673b9d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80f673b9d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743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cc4b8a00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dcc4b8a00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5116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84750f890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384750f890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524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1" name="Google Shape;6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059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9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5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0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9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0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2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7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318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5442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5638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037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114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53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3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6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8f1860c19b_0_0"/>
          <p:cNvGrpSpPr/>
          <p:nvPr/>
        </p:nvGrpSpPr>
        <p:grpSpPr>
          <a:xfrm>
            <a:off x="-115475" y="-144651"/>
            <a:ext cx="18519057" cy="1783528"/>
            <a:chOff x="0" y="-38100"/>
            <a:chExt cx="4877415" cy="871800"/>
          </a:xfrm>
        </p:grpSpPr>
        <p:sp>
          <p:nvSpPr>
            <p:cNvPr id="85" name="Google Shape;85;g38f1860c19b_0_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rgbClr val="073763"/>
            </a:solidFill>
            <a:ln>
              <a:noFill/>
            </a:ln>
          </p:spPr>
        </p:sp>
        <p:sp>
          <p:nvSpPr>
            <p:cNvPr id="86" name="Google Shape;86;g38f1860c19b_0_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g38f1860c19b_0_0"/>
          <p:cNvSpPr txBox="1"/>
          <p:nvPr/>
        </p:nvSpPr>
        <p:spPr>
          <a:xfrm>
            <a:off x="-115532" y="184590"/>
            <a:ext cx="1851905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1"/>
              </a:lnSpc>
              <a:buSzPts val="1100"/>
            </a:pPr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ZIDIO – Business Consulting &amp; Software Development</a:t>
            </a:r>
            <a:endParaRPr sz="6000" b="1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8" name="Google Shape;88;g38f1860c19b_0_0"/>
          <p:cNvSpPr txBox="1"/>
          <p:nvPr/>
        </p:nvSpPr>
        <p:spPr>
          <a:xfrm>
            <a:off x="2446700" y="3438511"/>
            <a:ext cx="133947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  <a:buSzPts val="15217"/>
            </a:pPr>
            <a:r>
              <a:rPr lang="en-IN" sz="9600" dirty="0">
                <a:solidFill>
                  <a:schemeClr val="accent3"/>
                </a:solidFill>
                <a:latin typeface="Georgia" panose="02040502050405020303" pitchFamily="18" charset="0"/>
              </a:rPr>
              <a:t>Project FORESIGHT</a:t>
            </a:r>
            <a:endParaRPr sz="113" b="0" i="0" u="none" strike="noStrike" cap="none" dirty="0">
              <a:solidFill>
                <a:schemeClr val="accent3"/>
              </a:solidFill>
              <a:latin typeface="Georgia" panose="02040502050405020303" pitchFamily="18" charset="0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g38f1860c19b_0_0"/>
          <p:cNvSpPr txBox="1"/>
          <p:nvPr/>
        </p:nvSpPr>
        <p:spPr>
          <a:xfrm>
            <a:off x="3126325" y="6108013"/>
            <a:ext cx="120354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  <a:buSzPts val="3382"/>
            </a:pPr>
            <a:r>
              <a:rPr lang="en-I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&amp; Inventory Intelligence</a:t>
            </a:r>
            <a:endParaRPr sz="40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0" name="Google Shape;90;g38f1860c19b_0_0"/>
          <p:cNvSpPr/>
          <p:nvPr/>
        </p:nvSpPr>
        <p:spPr>
          <a:xfrm>
            <a:off x="3521516" y="5636724"/>
            <a:ext cx="11122800" cy="79500"/>
          </a:xfrm>
          <a:prstGeom prst="rect">
            <a:avLst/>
          </a:prstGeom>
          <a:solidFill>
            <a:schemeClr val="dk2"/>
          </a:solidFill>
          <a:ln w="10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050" tIns="103050" rIns="103050" bIns="103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endParaRPr sz="1578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8f1860c19b_0_0"/>
          <p:cNvSpPr txBox="1"/>
          <p:nvPr/>
        </p:nvSpPr>
        <p:spPr>
          <a:xfrm>
            <a:off x="5519100" y="2335567"/>
            <a:ext cx="63354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25000"/>
              </a:lnSpc>
              <a:buSzPts val="3100"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Project Title</a:t>
            </a:r>
          </a:p>
        </p:txBody>
      </p:sp>
      <p:sp>
        <p:nvSpPr>
          <p:cNvPr id="94" name="Google Shape;94;g38f1860c19b_0_0"/>
          <p:cNvSpPr txBox="1"/>
          <p:nvPr/>
        </p:nvSpPr>
        <p:spPr>
          <a:xfrm>
            <a:off x="4909500" y="7361576"/>
            <a:ext cx="7970400" cy="137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Presented By</a:t>
            </a:r>
            <a:r>
              <a:rPr lang="en-US" sz="3100" b="1" i="0" u="none" strike="noStrike" cap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endParaRPr sz="3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1750" marR="0" lvl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</a:pPr>
            <a:r>
              <a:rPr lang="en-US" sz="31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Utkarsh</a:t>
            </a:r>
            <a:r>
              <a:rPr lang="en-US" sz="31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31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Yogesh</a:t>
            </a:r>
            <a:r>
              <a:rPr lang="en-US" sz="31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31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Chaudhari</a:t>
            </a:r>
            <a:r>
              <a:rPr lang="en-US" sz="31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3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8" name="Google Shape;98;g38f1860c19b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8435ee0ac_0_5"/>
          <p:cNvSpPr txBox="1"/>
          <p:nvPr/>
        </p:nvSpPr>
        <p:spPr>
          <a:xfrm>
            <a:off x="0" y="29028"/>
            <a:ext cx="18288000" cy="20682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lang="en-US" sz="9600" b="1" i="0" u="none" strike="noStrike" cap="none" dirty="0" smtClean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Presentation </a:t>
            </a:r>
            <a:r>
              <a:rPr lang="en-US" sz="96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Outline</a:t>
            </a:r>
            <a:endParaRPr sz="9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g378435ee0ac_0_5"/>
          <p:cNvSpPr txBox="1"/>
          <p:nvPr/>
        </p:nvSpPr>
        <p:spPr>
          <a:xfrm>
            <a:off x="1233714" y="3185858"/>
            <a:ext cx="8011884" cy="609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Executive 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Summary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Business 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 </a:t>
            </a:r>
            <a:endParaRPr lang="en-US" sz="3200" dirty="0" smtClean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Data&amp; 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Solution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Demand Forecasting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</a:p>
          <a:p>
            <a:pPr marL="53975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screenshot</a:t>
            </a:r>
            <a:r>
              <a:rPr lang="en-I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g378435ee0ac_0_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" name="Google Shape;105;g378435ee0ac_0_5"/>
          <p:cNvSpPr txBox="1"/>
          <p:nvPr/>
        </p:nvSpPr>
        <p:spPr>
          <a:xfrm>
            <a:off x="9359887" y="3243921"/>
            <a:ext cx="8077200" cy="535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3975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Decisioning</a:t>
            </a:r>
            <a:r>
              <a:rPr lang="en-I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Recommended </a:t>
            </a:r>
            <a:r>
              <a:rPr lang="en-I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53975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lang="en-I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539750" lvl="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Limitations &amp; Next Steps</a:t>
            </a:r>
          </a:p>
          <a:p>
            <a:pPr marL="539750" indent="-514350">
              <a:lnSpc>
                <a:spcPct val="150000"/>
              </a:lnSpc>
              <a:buSzPts val="3200"/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"/>
          <p:cNvGrpSpPr/>
          <p:nvPr/>
        </p:nvGrpSpPr>
        <p:grpSpPr>
          <a:xfrm>
            <a:off x="0" y="-203200"/>
            <a:ext cx="18287807" cy="2153710"/>
            <a:chOff x="0" y="-38100"/>
            <a:chExt cx="4877416" cy="87177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38100"/>
              <a:ext cx="4877416" cy="8717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0" y="-115798"/>
            <a:ext cx="18287803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013371" y="2033678"/>
            <a:ext cx="9151257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sz="half" idx="1"/>
          </p:nvPr>
        </p:nvSpPr>
        <p:spPr>
          <a:xfrm>
            <a:off x="172356" y="3338287"/>
            <a:ext cx="8514443" cy="67938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products at risk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inventory is exhausted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overstocked products that may require markdown or clearance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inventory decisions using forecast demand and current inventory position.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potential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at Risk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Locked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rupees.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recommendations through an interactive planning dashboard.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sz="half" idx="2"/>
          </p:nvPr>
        </p:nvSpPr>
        <p:spPr>
          <a:xfrm>
            <a:off x="9013371" y="3178629"/>
            <a:ext cx="9151257" cy="6953477"/>
          </a:xfrm>
        </p:spPr>
        <p:txBody>
          <a:bodyPr>
            <a:normAutofit fontScale="92500" lnSpcReduction="10000"/>
          </a:bodyPr>
          <a:lstStyle/>
          <a:p>
            <a:pPr marL="50800" indent="0">
              <a:lnSpc>
                <a:spcPct val="160000"/>
              </a:lnSpc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lnSpc>
                <a:spcPct val="160000"/>
              </a:lnSpc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lnSpc>
                <a:spcPct val="160000"/>
              </a:lnSpc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forecasting model: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Naive WAPE: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12.17%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WAPE: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8.11%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6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over baseline: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33.39%</a:t>
            </a:r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5" name="Title 4"/>
          <p:cNvSpPr txBox="1">
            <a:spLocks/>
          </p:cNvSpPr>
          <p:nvPr/>
        </p:nvSpPr>
        <p:spPr>
          <a:xfrm>
            <a:off x="101592" y="2040938"/>
            <a:ext cx="858520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281885" y="3338287"/>
            <a:ext cx="8766631" cy="1795046"/>
            <a:chOff x="9281885" y="3338287"/>
            <a:chExt cx="8766631" cy="1795046"/>
          </a:xfrm>
        </p:grpSpPr>
        <p:sp>
          <p:nvSpPr>
            <p:cNvPr id="8" name="Rectangle 7"/>
            <p:cNvSpPr/>
            <p:nvPr/>
          </p:nvSpPr>
          <p:spPr>
            <a:xfrm>
              <a:off x="9281885" y="3338287"/>
              <a:ext cx="2910116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Demand </a:t>
              </a:r>
              <a:r>
                <a:rPr lang="en-US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Forecast</a:t>
              </a:r>
              <a:endParaRPr lang="en-IN" sz="2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714514" y="3381831"/>
              <a:ext cx="2525486" cy="6010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Detection</a:t>
              </a:r>
              <a:endParaRPr lang="en-IN" sz="2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815129" y="3381831"/>
              <a:ext cx="2233387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Impact</a:t>
              </a:r>
              <a:endParaRPr lang="en-IN" sz="2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5432314" y="4523733"/>
              <a:ext cx="2616202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/>
                <a:t>Business Action</a:t>
              </a:r>
              <a:endParaRPr lang="en-IN" sz="2500" dirty="0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12206516" y="3483433"/>
              <a:ext cx="486226" cy="362856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15276287" y="3505205"/>
              <a:ext cx="538842" cy="370112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Down Arrow 3"/>
            <p:cNvSpPr/>
            <p:nvPr/>
          </p:nvSpPr>
          <p:spPr>
            <a:xfrm>
              <a:off x="16575315" y="3991431"/>
              <a:ext cx="420914" cy="53230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0" name="Google Shape;106;g378435ee0ac_0_5"/>
          <p:cNvPicPr preferRelativeResize="0"/>
          <p:nvPr/>
        </p:nvPicPr>
        <p:blipFill rotWithShape="1">
          <a:blip r:embed="rId3">
            <a:alphaModFix/>
          </a:blip>
          <a:srcRect l="25162" r="26459" b="12311"/>
          <a:stretch/>
        </p:blipFill>
        <p:spPr>
          <a:xfrm>
            <a:off x="15702204" y="6888300"/>
            <a:ext cx="2588050" cy="33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1260" y="330304"/>
            <a:ext cx="7547867" cy="95248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YET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QUANTIFIED</a:t>
            </a:r>
          </a:p>
          <a:p>
            <a:pPr marL="0" indent="0">
              <a:lnSpc>
                <a:spcPct val="150000"/>
              </a:lnSpc>
              <a:buClrTx/>
              <a:buSzPct val="15000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RISK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revenue exposed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YET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QUANTIFIED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LOCKED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value of excess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33.39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IMPROVEMENT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Seasonal Naive baseline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30303"/>
            <a:ext cx="9884229" cy="96845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RECOMMENDED </a:t>
            </a: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Reorder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-risk SKUs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clear high-overstock SKUs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volatile SKUs closely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by financial impact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378764c7d60_0_10"/>
          <p:cNvGrpSpPr/>
          <p:nvPr/>
        </p:nvGrpSpPr>
        <p:grpSpPr>
          <a:xfrm>
            <a:off x="0" y="-101600"/>
            <a:ext cx="18301982" cy="2140966"/>
            <a:chOff x="0" y="-38100"/>
            <a:chExt cx="4877415" cy="871800"/>
          </a:xfrm>
        </p:grpSpPr>
        <p:sp>
          <p:nvSpPr>
            <p:cNvPr id="125" name="Google Shape;125;g378764c7d60_0_1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26" name="Google Shape;126;g378764c7d60_0_1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78764c7d60_0_10"/>
          <p:cNvSpPr txBox="1"/>
          <p:nvPr/>
        </p:nvSpPr>
        <p:spPr>
          <a:xfrm>
            <a:off x="949652" y="-8105"/>
            <a:ext cx="15915947" cy="19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algn="ctr">
              <a:lnSpc>
                <a:spcPct val="115000"/>
              </a:lnSpc>
              <a:spcBef>
                <a:spcPts val="200"/>
              </a:spcBef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sz="9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0" y="2144809"/>
            <a:ext cx="18288000" cy="1280562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NorthBay</a:t>
            </a:r>
            <a:r>
              <a:rPr lang="en-US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Living currently faces two major inventory problems:</a:t>
            </a:r>
            <a:endParaRPr lang="en-IN" sz="4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12626" y="3071943"/>
            <a:ext cx="8557205" cy="864393"/>
          </a:xfrm>
        </p:spPr>
        <p:txBody>
          <a:bodyPr/>
          <a:lstStyle/>
          <a:p>
            <a:r>
              <a:rPr lang="en-IN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"/>
          </p:nvPr>
        </p:nvSpPr>
        <p:spPr>
          <a:xfrm>
            <a:off x="9231087" y="3037822"/>
            <a:ext cx="8642318" cy="864393"/>
          </a:xfrm>
        </p:spPr>
        <p:txBody>
          <a:bodyPr/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4"/>
          </p:nvPr>
        </p:nvSpPr>
        <p:spPr>
          <a:xfrm>
            <a:off x="9231087" y="4161349"/>
            <a:ext cx="8642318" cy="5955108"/>
          </a:xfrm>
        </p:spPr>
        <p:txBody>
          <a:bodyPr/>
          <a:lstStyle/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Slow-moving products remain in inventory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becomes locked in unsold inventory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may eventually require markdowns.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sz="half" idx="2"/>
          </p:nvPr>
        </p:nvSpPr>
        <p:spPr>
          <a:xfrm>
            <a:off x="412626" y="4105867"/>
            <a:ext cx="8557205" cy="6010589"/>
          </a:xfrm>
        </p:spPr>
        <p:txBody>
          <a:bodyPr/>
          <a:lstStyle/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products can run out of stock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sales and customer dissatisfaction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teams need early warning before stock reaches critical levels.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oogle Shape;559;g3760d03ff42_0_9"/>
          <p:cNvPicPr preferRelativeResize="0"/>
          <p:nvPr/>
        </p:nvPicPr>
        <p:blipFill rotWithShape="1">
          <a:blip r:embed="rId3">
            <a:alphaModFix/>
          </a:blip>
          <a:srcRect l="9429" t="6190" r="6980" b="5634"/>
          <a:stretch/>
        </p:blipFill>
        <p:spPr>
          <a:xfrm>
            <a:off x="15081600" y="7225274"/>
            <a:ext cx="3206400" cy="306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542" y="203200"/>
            <a:ext cx="17315543" cy="95794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542" y="1528198"/>
            <a:ext cx="17431657" cy="86463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system that answers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will we sell</a:t>
            </a:r>
            <a:r>
              <a:rPr lang="en-IN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are at risk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should we reorder</a:t>
            </a:r>
            <a:r>
              <a:rPr lang="en-IN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should we clear or markdown</a:t>
            </a:r>
            <a:r>
              <a:rPr lang="en-US" sz="2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require no immediate action?</a:t>
            </a:r>
            <a:endParaRPr lang="en-IN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227;g3743901a654_0_50"/>
          <p:cNvPicPr preferRelativeResize="0"/>
          <p:nvPr/>
        </p:nvPicPr>
        <p:blipFill rotWithShape="1">
          <a:blip r:embed="rId2">
            <a:alphaModFix/>
          </a:blip>
          <a:srcRect l="18249" t="24441" r="20200" b="26060"/>
          <a:stretch/>
        </p:blipFill>
        <p:spPr>
          <a:xfrm>
            <a:off x="15157036" y="7757650"/>
            <a:ext cx="3145475" cy="2529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95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428" y="2093515"/>
            <a:ext cx="8418285" cy="803745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:-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sales_daily.csv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sku_master.csv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calendar.csv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inventory_snapshots.csv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:-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 weeks of historical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 and periodic inventory information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98857" y="2093514"/>
            <a:ext cx="9092263" cy="8037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IN" sz="3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:-</a:t>
            </a:r>
            <a:endParaRPr lang="en-IN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124;g378764c7d60_0_10"/>
          <p:cNvGrpSpPr/>
          <p:nvPr/>
        </p:nvGrpSpPr>
        <p:grpSpPr>
          <a:xfrm>
            <a:off x="0" y="-174172"/>
            <a:ext cx="18301982" cy="2140966"/>
            <a:chOff x="0" y="-38100"/>
            <a:chExt cx="4877415" cy="871800"/>
          </a:xfrm>
        </p:grpSpPr>
        <p:sp>
          <p:nvSpPr>
            <p:cNvPr id="7" name="Google Shape;125;g378764c7d60_0_1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8" name="Google Shape;126;g378764c7d60_0_1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127;g378764c7d60_0_10"/>
          <p:cNvSpPr txBox="1"/>
          <p:nvPr/>
        </p:nvSpPr>
        <p:spPr>
          <a:xfrm>
            <a:off x="949652" y="-8105"/>
            <a:ext cx="15915947" cy="19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algn="ctr">
              <a:lnSpc>
                <a:spcPct val="115000"/>
              </a:lnSpc>
              <a:spcBef>
                <a:spcPts val="200"/>
              </a:spcBef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Solution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1697572" y="2747206"/>
            <a:ext cx="4732599" cy="7456332"/>
            <a:chOff x="11697572" y="2747206"/>
            <a:chExt cx="4732599" cy="7456332"/>
          </a:xfrm>
        </p:grpSpPr>
        <p:sp>
          <p:nvSpPr>
            <p:cNvPr id="11" name="Rectangle 10"/>
            <p:cNvSpPr/>
            <p:nvPr/>
          </p:nvSpPr>
          <p:spPr>
            <a:xfrm>
              <a:off x="11737019" y="2747206"/>
              <a:ext cx="4693152" cy="62317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Data</a:t>
              </a:r>
              <a:endParaRPr lang="en-IN" sz="2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704831" y="3848160"/>
              <a:ext cx="4725340" cy="64673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Cleaning &amp; Validation</a:t>
              </a:r>
              <a:endParaRPr lang="en-IN" sz="2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697572" y="4972585"/>
              <a:ext cx="4732599" cy="67100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Engineering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697573" y="6106766"/>
              <a:ext cx="4732598" cy="67566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Demand Forecasting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704831" y="7231190"/>
              <a:ext cx="4725340" cy="70795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Scoring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97574" y="8384642"/>
              <a:ext cx="4732597" cy="67740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Impact Calculation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697575" y="9526835"/>
              <a:ext cx="4732596" cy="67670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 &amp;</a:t>
              </a:r>
              <a:r>
                <a:rPr lang="en-I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3544988" y="3370377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3552247" y="4480717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3544987" y="5649116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3552246" y="6759459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3559505" y="7927860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13566763" y="9023688"/>
              <a:ext cx="518883" cy="47778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3443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783269c9c2_0_0"/>
          <p:cNvGrpSpPr/>
          <p:nvPr/>
        </p:nvGrpSpPr>
        <p:grpSpPr>
          <a:xfrm>
            <a:off x="0" y="-87087"/>
            <a:ext cx="18403950" cy="1916216"/>
            <a:chOff x="0" y="-38100"/>
            <a:chExt cx="4877415" cy="871800"/>
          </a:xfrm>
        </p:grpSpPr>
        <p:sp>
          <p:nvSpPr>
            <p:cNvPr id="213" name="Google Shape;213;g3783269c9c2_0_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14" name="Google Shape;214;g3783269c9c2_0_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783269c9c2_0_0"/>
          <p:cNvSpPr txBox="1"/>
          <p:nvPr/>
        </p:nvSpPr>
        <p:spPr>
          <a:xfrm>
            <a:off x="1731300" y="-164749"/>
            <a:ext cx="148254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86" y="1897834"/>
            <a:ext cx="17968685" cy="104856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685" y="3093642"/>
            <a:ext cx="8723086" cy="706635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weekly SKU-level demand forecasts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:-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Naive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using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features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Rolling statistics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Calendar/seasonality features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signals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forecasting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Rolling-origin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g3783269c9c2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405257" y="3042846"/>
            <a:ext cx="8730343" cy="70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114425" indent="-428625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685800" rtl="0" eaLnBrk="1" latinLnBrk="0" hangingPunct="1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:-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Naïve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selected because it achieved the lowest WAPE among the evaluated approaches.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210620" y="6244269"/>
            <a:ext cx="8933380" cy="3901216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IN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429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WAPE from 12.17% to 8.11%,achieving a 33.39% improvement over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Seasonal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baseline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93700" indent="-3429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over Seasonal Naive: 33.39%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that the selected forecasting approach provides a measurable improvement over the required baseline.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g3743901a654_0_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3" name="Google Shape;212;g3783269c9c2_0_0"/>
          <p:cNvGrpSpPr/>
          <p:nvPr/>
        </p:nvGrpSpPr>
        <p:grpSpPr>
          <a:xfrm>
            <a:off x="0" y="-203201"/>
            <a:ext cx="18403950" cy="1916216"/>
            <a:chOff x="0" y="-38100"/>
            <a:chExt cx="4877415" cy="871800"/>
          </a:xfrm>
        </p:grpSpPr>
        <p:sp>
          <p:nvSpPr>
            <p:cNvPr id="14" name="Google Shape;213;g3783269c9c2_0_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5" name="Google Shape;214;g3783269c9c2_0_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15;g3783269c9c2_0_0"/>
          <p:cNvSpPr txBox="1"/>
          <p:nvPr/>
        </p:nvSpPr>
        <p:spPr>
          <a:xfrm>
            <a:off x="1731300" y="-324403"/>
            <a:ext cx="148254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176522"/>
              </p:ext>
            </p:extLst>
          </p:nvPr>
        </p:nvGraphicFramePr>
        <p:xfrm>
          <a:off x="115920" y="3459842"/>
          <a:ext cx="17983394" cy="2650672"/>
        </p:xfrm>
        <a:graphic>
          <a:graphicData uri="http://schemas.openxmlformats.org/drawingml/2006/table">
            <a:tbl>
              <a:tblPr firstRow="1" bandRow="1">
                <a:tableStyleId>{8D4A2D96-8923-4C23-B11E-44429DAD8594}</a:tableStyleId>
              </a:tblPr>
              <a:tblGrid>
                <a:gridCol w="8991697"/>
                <a:gridCol w="8991697"/>
              </a:tblGrid>
              <a:tr h="662668"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WAPE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66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Seasonal Naive Baseline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12.17%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66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8.53%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668">
                <a:tc>
                  <a:txBody>
                    <a:bodyPr/>
                    <a:lstStyle/>
                    <a:p>
                      <a:pPr algn="ctr"/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8.11%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Placeholder 2"/>
          <p:cNvSpPr>
            <a:spLocks noGrp="1"/>
          </p:cNvSpPr>
          <p:nvPr>
            <p:ph sz="half" idx="1"/>
          </p:nvPr>
        </p:nvSpPr>
        <p:spPr>
          <a:xfrm>
            <a:off x="9201946" y="6106386"/>
            <a:ext cx="8933380" cy="4039099"/>
          </a:xfrm>
        </p:spPr>
        <p:txBody>
          <a:bodyPr>
            <a:norm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  <a:r>
              <a:rPr lang="en-IN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0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Rolling-origin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</a:p>
          <a:p>
            <a:pPr marL="508000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Time-aware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508000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Naive baseline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 marL="508000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random train/test split for time-series evaluation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77246" y="2032002"/>
            <a:ext cx="3933372" cy="10305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/>
              <a:t>12.17% </a:t>
            </a:r>
            <a:br>
              <a:rPr lang="en-IN" sz="2500" dirty="0"/>
            </a:br>
            <a:r>
              <a:rPr lang="en-IN" sz="2500" dirty="0"/>
              <a:t>Seasonal </a:t>
            </a:r>
            <a:r>
              <a:rPr lang="en-IN" sz="2500" dirty="0" smtClean="0"/>
              <a:t>Naive</a:t>
            </a:r>
            <a:endParaRPr lang="en-IN" sz="2500" dirty="0"/>
          </a:p>
        </p:txBody>
      </p:sp>
      <p:sp>
        <p:nvSpPr>
          <p:cNvPr id="17" name="Rectangle 16"/>
          <p:cNvSpPr/>
          <p:nvPr/>
        </p:nvSpPr>
        <p:spPr>
          <a:xfrm>
            <a:off x="6422575" y="2039262"/>
            <a:ext cx="3933372" cy="10305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/>
              <a:t>8.11% </a:t>
            </a:r>
          </a:p>
          <a:p>
            <a:pPr algn="ctr"/>
            <a:r>
              <a:rPr lang="en-IN" sz="2500" dirty="0" err="1" smtClean="0"/>
              <a:t>LightGBM</a:t>
            </a:r>
            <a:endParaRPr lang="en-IN" sz="2500" dirty="0"/>
          </a:p>
        </p:txBody>
      </p:sp>
      <p:sp>
        <p:nvSpPr>
          <p:cNvPr id="18" name="Rectangle 17"/>
          <p:cNvSpPr/>
          <p:nvPr/>
        </p:nvSpPr>
        <p:spPr>
          <a:xfrm>
            <a:off x="11567886" y="2058961"/>
            <a:ext cx="4680862" cy="10305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solidFill>
                  <a:schemeClr val="tx1"/>
                </a:solidFill>
              </a:rPr>
              <a:t>33.39% </a:t>
            </a:r>
          </a:p>
          <a:p>
            <a:pPr algn="ctr"/>
            <a:r>
              <a:rPr lang="en-IN" sz="2500" dirty="0">
                <a:solidFill>
                  <a:schemeClr val="tx1"/>
                </a:solidFill>
              </a:rPr>
              <a:t>IMPROVEMENT </a:t>
            </a:r>
            <a:r>
              <a:rPr lang="en-IN" sz="2500" dirty="0" err="1">
                <a:solidFill>
                  <a:schemeClr val="tx1"/>
                </a:solidFill>
              </a:rPr>
              <a:t>vs</a:t>
            </a:r>
            <a:r>
              <a:rPr lang="en-IN" sz="2500" dirty="0">
                <a:solidFill>
                  <a:schemeClr val="tx1"/>
                </a:solidFill>
              </a:rPr>
              <a:t> </a:t>
            </a:r>
            <a:r>
              <a:rPr lang="en-IN" sz="2500" dirty="0" smtClean="0">
                <a:solidFill>
                  <a:schemeClr val="tx1"/>
                </a:solidFill>
              </a:rPr>
              <a:t>BASELINE</a:t>
            </a:r>
            <a:endParaRPr lang="en-IN" sz="2500" dirty="0">
              <a:solidFill>
                <a:schemeClr val="tx1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0388687" y="2373088"/>
            <a:ext cx="1179200" cy="37011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5228860" y="2365834"/>
            <a:ext cx="1179200" cy="37011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g38e8e562406_0_6"/>
          <p:cNvGrpSpPr/>
          <p:nvPr/>
        </p:nvGrpSpPr>
        <p:grpSpPr>
          <a:xfrm>
            <a:off x="0" y="-159656"/>
            <a:ext cx="18288000" cy="2153782"/>
            <a:chOff x="0" y="-38100"/>
            <a:chExt cx="4877415" cy="871800"/>
          </a:xfrm>
        </p:grpSpPr>
        <p:sp>
          <p:nvSpPr>
            <p:cNvPr id="253" name="Google Shape;253;g38e8e562406_0_6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54" name="Google Shape;254;g38e8e562406_0_6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g38e8e562406_0_6"/>
          <p:cNvSpPr txBox="1"/>
          <p:nvPr/>
        </p:nvSpPr>
        <p:spPr>
          <a:xfrm>
            <a:off x="-56" y="-183266"/>
            <a:ext cx="18287999" cy="208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40004"/>
              </a:lnSpc>
              <a:buSzPct val="108108"/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Intelligence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8640" y="2491929"/>
            <a:ext cx="12895002" cy="795158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forecast demand and inventory position into actionable risk categories.</a:t>
            </a:r>
            <a:endParaRPr lang="en-IN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496" y="3056711"/>
            <a:ext cx="7566447" cy="864393"/>
          </a:xfrm>
        </p:spPr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496" y="4012578"/>
            <a:ext cx="7566447" cy="616193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Demand during Lead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With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On-hand + On-order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projected inventory becomes insufficient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SKU is identified as a potential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8200572" y="3058955"/>
            <a:ext cx="9527688" cy="86439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Risk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8221404" y="4012578"/>
            <a:ext cx="9506855" cy="61619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On-hand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With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Future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inventory is substantially higher than expected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SKU is identified as overstock risk.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Google Shape;258;g38e8e562406_0_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12" y="2852799"/>
            <a:ext cx="3132977" cy="52613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024" y="2913273"/>
            <a:ext cx="3010031" cy="52009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385" y="2913273"/>
            <a:ext cx="8179220" cy="5302523"/>
          </a:xfrm>
          <a:prstGeom prst="rect">
            <a:avLst/>
          </a:prstGeom>
        </p:spPr>
      </p:pic>
      <p:grpSp>
        <p:nvGrpSpPr>
          <p:cNvPr id="9" name="Google Shape;252;g38e8e562406_0_6"/>
          <p:cNvGrpSpPr/>
          <p:nvPr/>
        </p:nvGrpSpPr>
        <p:grpSpPr>
          <a:xfrm>
            <a:off x="0" y="-188685"/>
            <a:ext cx="18288000" cy="1799770"/>
            <a:chOff x="0" y="-38100"/>
            <a:chExt cx="4877415" cy="871800"/>
          </a:xfrm>
        </p:grpSpPr>
        <p:sp>
          <p:nvSpPr>
            <p:cNvPr id="10" name="Google Shape;253;g38e8e562406_0_6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" name="Google Shape;254;g38e8e562406_0_6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256;g38e8e562406_0_6"/>
          <p:cNvSpPr txBox="1"/>
          <p:nvPr/>
        </p:nvSpPr>
        <p:spPr>
          <a:xfrm>
            <a:off x="-56" y="-183266"/>
            <a:ext cx="18287999" cy="208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40004"/>
              </a:lnSpc>
              <a:buSzPct val="108108"/>
            </a:pPr>
            <a:r>
              <a:rPr lang="en-IN" sz="8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 screenshot.</a:t>
            </a:r>
            <a:endParaRPr lang="en-IN" sz="88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39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8" y="389044"/>
            <a:ext cx="5723372" cy="3486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192" y="474767"/>
            <a:ext cx="6109803" cy="34005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8" y="4678396"/>
            <a:ext cx="6116155" cy="34238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18" y="4004920"/>
            <a:ext cx="7499735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2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42485394"/>
              </p:ext>
            </p:extLst>
          </p:nvPr>
        </p:nvGraphicFramePr>
        <p:xfrm>
          <a:off x="159657" y="1925638"/>
          <a:ext cx="17925597" cy="3894590"/>
        </p:xfrm>
        <a:graphic>
          <a:graphicData uri="http://schemas.openxmlformats.org/drawingml/2006/table">
            <a:tbl>
              <a:tblPr firstRow="1" bandRow="1">
                <a:tableStyleId>{8D4A2D96-8923-4C23-B11E-44429DAD8594}</a:tableStyleId>
              </a:tblPr>
              <a:tblGrid>
                <a:gridCol w="5975199"/>
                <a:gridCol w="5975199"/>
                <a:gridCol w="5975199"/>
              </a:tblGrid>
              <a:tr h="778918"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Category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Meaning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Action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918"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Reorder Now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  <a:r>
                        <a:rPr lang="en-IN" sz="25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stockout</a:t>
                      </a:r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risk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Replenish inventory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918"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Markdown / Clear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overstock risk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Promote, discount or clear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918"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Watch / Volatile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  <a:r>
                        <a:rPr lang="en-US" sz="25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stockout</a:t>
                      </a:r>
                      <a:r>
                        <a:rPr lang="en-US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overstock risk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Investigate manually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918"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risk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immediate action</a:t>
                      </a:r>
                      <a:endParaRPr lang="en-IN" sz="2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oogle Shape;212;g3783269c9c2_0_0"/>
          <p:cNvGrpSpPr/>
          <p:nvPr/>
        </p:nvGrpSpPr>
        <p:grpSpPr>
          <a:xfrm>
            <a:off x="0" y="-174172"/>
            <a:ext cx="18403950" cy="1916216"/>
            <a:chOff x="0" y="-38100"/>
            <a:chExt cx="4877415" cy="871800"/>
          </a:xfrm>
        </p:grpSpPr>
        <p:sp>
          <p:nvSpPr>
            <p:cNvPr id="7" name="Google Shape;213;g3783269c9c2_0_0"/>
            <p:cNvSpPr/>
            <p:nvPr/>
          </p:nvSpPr>
          <p:spPr>
            <a:xfrm>
              <a:off x="0" y="0"/>
              <a:ext cx="4877415" cy="833671"/>
            </a:xfrm>
            <a:custGeom>
              <a:avLst/>
              <a:gdLst/>
              <a:ahLst/>
              <a:cxnLst/>
              <a:rect l="l" t="t" r="r" b="b"/>
              <a:pathLst>
                <a:path w="4877415" h="833671" extrusionOk="0">
                  <a:moveTo>
                    <a:pt x="0" y="0"/>
                  </a:moveTo>
                  <a:lnTo>
                    <a:pt x="4877415" y="0"/>
                  </a:lnTo>
                  <a:lnTo>
                    <a:pt x="4877415" y="833671"/>
                  </a:lnTo>
                  <a:lnTo>
                    <a:pt x="0" y="833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8" name="Google Shape;214;g3783269c9c2_0_0"/>
            <p:cNvSpPr txBox="1"/>
            <p:nvPr/>
          </p:nvSpPr>
          <p:spPr>
            <a:xfrm>
              <a:off x="0" y="-38100"/>
              <a:ext cx="4877400" cy="87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256;g38e8e562406_0_6"/>
          <p:cNvSpPr txBox="1"/>
          <p:nvPr/>
        </p:nvSpPr>
        <p:spPr>
          <a:xfrm>
            <a:off x="0" y="-154235"/>
            <a:ext cx="18403893" cy="208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40004"/>
              </a:lnSpc>
              <a:buSzPct val="108108"/>
            </a:pPr>
            <a:r>
              <a:rPr lang="en-IN" sz="8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Decisioning</a:t>
            </a: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Recommended Actions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" name="Google Shape;256;g38e8e562406_0_6"/>
          <p:cNvSpPr txBox="1"/>
          <p:nvPr/>
        </p:nvSpPr>
        <p:spPr>
          <a:xfrm>
            <a:off x="195943" y="6457029"/>
            <a:ext cx="15247257" cy="1348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40004"/>
              </a:lnSpc>
              <a:buSzPct val="108108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decisioning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helps the operations team prioritize SKUs instead of reviewing hundreds of products individually.</a:t>
            </a:r>
            <a:endParaRPr lang="en-IN" sz="27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78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85f2e902b_0_0"/>
          <p:cNvSpPr txBox="1"/>
          <p:nvPr/>
        </p:nvSpPr>
        <p:spPr>
          <a:xfrm>
            <a:off x="0" y="0"/>
            <a:ext cx="18321900" cy="16619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9000"/>
            </a:pPr>
            <a:r>
              <a:rPr lang="en-IN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</a:t>
            </a:r>
            <a:endParaRPr sz="90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sz="half" idx="1"/>
          </p:nvPr>
        </p:nvSpPr>
        <p:spPr>
          <a:xfrm>
            <a:off x="96777" y="1785638"/>
            <a:ext cx="8713391" cy="2721353"/>
          </a:xfrm>
        </p:spPr>
        <p:txBody>
          <a:bodyPr>
            <a:no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translates inventory risks into business impact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at 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revenue potentially affected by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4"/>
          <p:cNvSpPr>
            <a:spLocks noGrp="1"/>
          </p:cNvSpPr>
          <p:nvPr>
            <p:ph sz="half" idx="1"/>
          </p:nvPr>
        </p:nvSpPr>
        <p:spPr>
          <a:xfrm>
            <a:off x="96776" y="4506991"/>
            <a:ext cx="8372309" cy="3809697"/>
          </a:xfrm>
        </p:spPr>
        <p:txBody>
          <a:bodyPr>
            <a:noAutofit/>
          </a:bodyPr>
          <a:lstStyle/>
          <a:p>
            <a:pPr marL="50800" indent="0"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  <a:p>
            <a:pPr marL="650875" lvl="1" indent="0">
              <a:lnSpc>
                <a:spcPct val="150000"/>
              </a:lnSpc>
              <a:buNone/>
            </a:pPr>
            <a:r>
              <a:rPr lang="en-IN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prevention</a:t>
            </a:r>
          </a:p>
          <a:p>
            <a:pPr marL="1708150" lvl="2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 potential revenue</a:t>
            </a:r>
          </a:p>
          <a:p>
            <a:pPr marL="1708150" lvl="2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lost-sales exposure</a:t>
            </a:r>
          </a:p>
          <a:p>
            <a:pPr marL="1708150" lvl="2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availability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sz="half" idx="1"/>
          </p:nvPr>
        </p:nvSpPr>
        <p:spPr>
          <a:xfrm>
            <a:off x="8824677" y="5301728"/>
            <a:ext cx="9245608" cy="3232674"/>
          </a:xfrm>
        </p:spPr>
        <p:txBody>
          <a:bodyPr>
            <a:noAutofit/>
          </a:bodyPr>
          <a:lstStyle/>
          <a:p>
            <a:pPr marL="50800" indent="0">
              <a:lnSpc>
                <a:spcPct val="150000"/>
              </a:lnSpc>
              <a:buClrTx/>
              <a:buSzPct val="150000"/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</a:t>
            </a: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</a:p>
          <a:p>
            <a:pPr marL="1108075" lvl="1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working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capital</a:t>
            </a:r>
          </a:p>
          <a:p>
            <a:pPr marL="1108075" lvl="1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markdown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</a:p>
          <a:p>
            <a:pPr marL="1108075" lvl="1" indent="-457200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inventory efficiency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4"/>
          <p:cNvSpPr>
            <a:spLocks noGrp="1"/>
          </p:cNvSpPr>
          <p:nvPr>
            <p:ph sz="half" idx="1"/>
          </p:nvPr>
        </p:nvSpPr>
        <p:spPr>
          <a:xfrm>
            <a:off x="8962568" y="1825552"/>
            <a:ext cx="9107718" cy="2804505"/>
          </a:xfrm>
        </p:spPr>
        <p:txBody>
          <a:bodyPr>
            <a:noAutofit/>
          </a:bodyPr>
          <a:lstStyle/>
          <a:p>
            <a:pPr marL="50800" indent="0">
              <a:lnSpc>
                <a:spcPct val="150000"/>
              </a:lnSpc>
              <a:buClrTx/>
              <a:buSzPct val="150000"/>
              <a:buNone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Locked</a:t>
            </a:r>
          </a:p>
          <a:p>
            <a:pPr marL="600075" lvl="1" indent="0">
              <a:lnSpc>
                <a:spcPct val="150000"/>
              </a:lnSpc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value of excess inventory that may remain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unsold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sz="half" idx="1"/>
          </p:nvPr>
        </p:nvSpPr>
        <p:spPr>
          <a:xfrm>
            <a:off x="174195" y="8345718"/>
            <a:ext cx="8157005" cy="1941281"/>
          </a:xfrm>
        </p:spPr>
        <p:txBody>
          <a:bodyPr>
            <a:noAutofit/>
          </a:bodyPr>
          <a:lstStyle/>
          <a:p>
            <a:pPr marL="50800" indent="0">
              <a:lnSpc>
                <a:spcPct val="150000"/>
              </a:lnSpc>
              <a:buClrTx/>
              <a:buSzPct val="150000"/>
              <a:buNone/>
            </a:pP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0875" lvl="1" indent="0">
              <a:lnSpc>
                <a:spcPct val="150000"/>
              </a:lnSpc>
              <a:buClrTx/>
              <a:buSzPct val="15000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first on SKUs with the highest financial impact and highest risk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oogle Shape;549;g3743901a654_2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11533" y="7665519"/>
            <a:ext cx="2432925" cy="25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45f4caf59_0_0"/>
          <p:cNvSpPr txBox="1"/>
          <p:nvPr/>
        </p:nvSpPr>
        <p:spPr>
          <a:xfrm>
            <a:off x="-150" y="-82137"/>
            <a:ext cx="18288000" cy="1649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algn="ctr">
              <a:lnSpc>
                <a:spcPct val="140004"/>
              </a:lnSpc>
              <a:buSzPct val="108108"/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Deployment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86303" y="1640619"/>
            <a:ext cx="6983754" cy="84903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</a:t>
            </a:r>
            <a:r>
              <a:rPr lang="en-IN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provides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SKU-level demand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/ clearance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Decisioning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metrics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8026400" y="1640619"/>
            <a:ext cx="10079231" cy="84903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</a:t>
            </a:r>
            <a:r>
              <a:rPr lang="en-IN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scoring interface for SKU-level prediction and risk assessment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scoring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lvl="1"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Swagger/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so that business users can access the outputs without directly interacting with the underlying Python code.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Google Shape;276;g3945f4caf59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Google Shape;271;g3945f4caf59_0_0"/>
          <p:cNvSpPr txBox="1"/>
          <p:nvPr/>
        </p:nvSpPr>
        <p:spPr>
          <a:xfrm>
            <a:off x="0" y="7918"/>
            <a:ext cx="18288000" cy="157413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40004"/>
              </a:lnSpc>
              <a:buSzPct val="108108"/>
            </a:pPr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59" y="2396095"/>
            <a:ext cx="3532975" cy="54706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949" y="2498615"/>
            <a:ext cx="3639080" cy="53681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13" y="2676876"/>
            <a:ext cx="8111456" cy="39271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184" y="6787970"/>
            <a:ext cx="8111456" cy="337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13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88" y="215315"/>
            <a:ext cx="7600201" cy="49662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501" y="354113"/>
            <a:ext cx="7722736" cy="48274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950" y="5926543"/>
            <a:ext cx="7906156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0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0f673b9df_0_3"/>
          <p:cNvSpPr txBox="1"/>
          <p:nvPr/>
        </p:nvSpPr>
        <p:spPr>
          <a:xfrm>
            <a:off x="0" y="-87086"/>
            <a:ext cx="18288000" cy="17087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algn="ctr">
              <a:lnSpc>
                <a:spcPct val="140004"/>
              </a:lnSpc>
              <a:buSzPct val="108108"/>
            </a:pPr>
            <a:r>
              <a:rPr lang="en-IN" sz="8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167" y="1841723"/>
            <a:ext cx="17954173" cy="82602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Recommended </a:t>
            </a:r>
            <a:r>
              <a:rPr lang="en-IN" sz="3500" b="1" dirty="0" smtClean="0"/>
              <a:t>Actions</a:t>
            </a:r>
            <a:endParaRPr lang="en-IN" sz="3500" b="1" dirty="0"/>
          </a:p>
          <a:p>
            <a:pPr marL="1199945" lvl="1" indent="-51435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US" sz="2800" dirty="0"/>
              <a:t>Prioritize high-risk </a:t>
            </a:r>
            <a:r>
              <a:rPr lang="en-US" sz="2800" dirty="0" err="1"/>
              <a:t>stockout</a:t>
            </a:r>
            <a:r>
              <a:rPr lang="en-US" sz="2800" dirty="0"/>
              <a:t> SKUs for replenishment</a:t>
            </a:r>
            <a:r>
              <a:rPr lang="en-US" sz="2800" dirty="0" smtClean="0"/>
              <a:t>.</a:t>
            </a:r>
          </a:p>
          <a:p>
            <a:pPr marL="1199945" lvl="1" indent="-51435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US" sz="2800" dirty="0"/>
              <a:t>Review high-overstock SKUs for markdown or clearance</a:t>
            </a:r>
            <a:r>
              <a:rPr lang="en-US" sz="2800" dirty="0" smtClean="0"/>
              <a:t>.</a:t>
            </a:r>
          </a:p>
          <a:p>
            <a:pPr marL="1199945" lvl="1" indent="-51435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US" sz="2800" dirty="0"/>
              <a:t>Monitor volatile SKUs more frequently</a:t>
            </a:r>
            <a:r>
              <a:rPr lang="en-US" sz="2800" dirty="0" smtClean="0"/>
              <a:t>.</a:t>
            </a:r>
          </a:p>
          <a:p>
            <a:pPr marL="1199945" lvl="1" indent="-51435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US" sz="2800" dirty="0"/>
              <a:t>Use forecast accuracy and inventory risk together for planning</a:t>
            </a:r>
            <a:r>
              <a:rPr lang="en-US" sz="2800" dirty="0" smtClean="0"/>
              <a:t>.</a:t>
            </a:r>
          </a:p>
          <a:p>
            <a:pPr marL="1199945" lvl="1" indent="-514350">
              <a:lnSpc>
                <a:spcPct val="150000"/>
              </a:lnSpc>
              <a:buClrTx/>
              <a:buSzPct val="100000"/>
              <a:buFont typeface="+mj-lt"/>
              <a:buAutoNum type="arabicPeriod"/>
            </a:pPr>
            <a:r>
              <a:rPr lang="en-US" sz="2800" dirty="0"/>
              <a:t>Refresh the pipeline regularly with updated sales and inventory data.</a:t>
            </a:r>
            <a:endParaRPr lang="en-IN" sz="2500" b="1" dirty="0"/>
          </a:p>
        </p:txBody>
      </p:sp>
      <p:sp>
        <p:nvSpPr>
          <p:cNvPr id="294" name="Google Shape;294;g380f673b9df_0_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86303" y="1885099"/>
            <a:ext cx="8536783" cy="864393"/>
          </a:xfrm>
        </p:spPr>
        <p:txBody>
          <a:bodyPr/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186303" y="2938714"/>
            <a:ext cx="8536783" cy="72067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quality depends on the quality and history of the provided data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or low-history SKUs may have less reliable forecasts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Promotions can create unusual demand patterns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 are estimates and should support—not replace—business decisions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and real-world operational constraints are outside the current scope.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>
          <a:xfrm>
            <a:off x="8824686" y="1858645"/>
            <a:ext cx="9222887" cy="864393"/>
          </a:xfrm>
        </p:spPr>
        <p:txBody>
          <a:bodyPr/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4"/>
          </p:nvPr>
        </p:nvSpPr>
        <p:spPr>
          <a:xfrm>
            <a:off x="8824686" y="2900321"/>
            <a:ext cx="9222887" cy="7245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intervals and forecast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What-if inventory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</a:t>
            </a:r>
            <a:r>
              <a:rPr lang="en-IN" sz="2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demand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drivers.</a:t>
            </a:r>
          </a:p>
          <a:p>
            <a:pPr>
              <a:lnSpc>
                <a:spcPct val="150000"/>
              </a:lnSpc>
              <a:buClrTx/>
              <a:buSzPct val="150000"/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periodic 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291;g380f673b9df_0_3"/>
          <p:cNvSpPr txBox="1"/>
          <p:nvPr/>
        </p:nvSpPr>
        <p:spPr>
          <a:xfrm>
            <a:off x="0" y="0"/>
            <a:ext cx="18288000" cy="17087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40004"/>
              </a:lnSpc>
              <a:buSzPct val="108108"/>
            </a:pPr>
            <a:r>
              <a:rPr lang="en-IN" sz="8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Next Steps</a:t>
            </a:r>
            <a:endParaRPr lang="en-IN" sz="88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84750f8905_0_44"/>
          <p:cNvSpPr/>
          <p:nvPr/>
        </p:nvSpPr>
        <p:spPr>
          <a:xfrm>
            <a:off x="-100" y="0"/>
            <a:ext cx="18288000" cy="1915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84750f8905_0_44"/>
          <p:cNvSpPr txBox="1"/>
          <p:nvPr/>
        </p:nvSpPr>
        <p:spPr>
          <a:xfrm>
            <a:off x="-175" y="16050"/>
            <a:ext cx="182880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96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</a:t>
            </a:r>
            <a:endParaRPr sz="9600" b="1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88" name="Google Shape;588;g384750f8905_0_44"/>
          <p:cNvSpPr txBox="1"/>
          <p:nvPr/>
        </p:nvSpPr>
        <p:spPr>
          <a:xfrm>
            <a:off x="1079096" y="2446536"/>
            <a:ext cx="13072332" cy="537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3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FORESIGHT provides an end-to-end solution for demand forecasting and inventory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intelligence. It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sales, product, calendar, and inventory data to generate SKU-level demand forecasts.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overstock risks and converts them into clear business actions.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quantifies potential Sales at Risk and Capital Locked to support better financial decisions.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and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make the insights accessible and actionable for business users.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PROJECT FORESIGHT helps the operations team make more informed, data-driven inventory decisions.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589" name="Google Shape;589;g384750f8905_0_44"/>
          <p:cNvPicPr preferRelativeResize="0"/>
          <p:nvPr/>
        </p:nvPicPr>
        <p:blipFill rotWithShape="1">
          <a:blip r:embed="rId3">
            <a:alphaModFix/>
          </a:blip>
          <a:srcRect b="9567"/>
          <a:stretch/>
        </p:blipFill>
        <p:spPr>
          <a:xfrm>
            <a:off x="13153850" y="7724730"/>
            <a:ext cx="5133975" cy="24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10"/>
          <p:cNvGrpSpPr/>
          <p:nvPr/>
        </p:nvGrpSpPr>
        <p:grpSpPr>
          <a:xfrm>
            <a:off x="2994273" y="1643464"/>
            <a:ext cx="12652125" cy="5732257"/>
            <a:chOff x="2994273" y="1643464"/>
            <a:chExt cx="12652125" cy="5732257"/>
          </a:xfrm>
        </p:grpSpPr>
        <p:grpSp>
          <p:nvGrpSpPr>
            <p:cNvPr id="644" name="Google Shape;644;p10"/>
            <p:cNvGrpSpPr/>
            <p:nvPr/>
          </p:nvGrpSpPr>
          <p:grpSpPr>
            <a:xfrm>
              <a:off x="2994273" y="1643464"/>
              <a:ext cx="12652125" cy="5732257"/>
              <a:chOff x="0" y="-38100"/>
              <a:chExt cx="4953300" cy="1223743"/>
            </a:xfrm>
          </p:grpSpPr>
          <p:sp>
            <p:nvSpPr>
              <p:cNvPr id="645" name="Google Shape;645;p10"/>
              <p:cNvSpPr/>
              <p:nvPr/>
            </p:nvSpPr>
            <p:spPr>
              <a:xfrm>
                <a:off x="0" y="0"/>
                <a:ext cx="3200925" cy="1185643"/>
              </a:xfrm>
              <a:custGeom>
                <a:avLst/>
                <a:gdLst/>
                <a:ahLst/>
                <a:cxnLst/>
                <a:rect l="l" t="t" r="r" b="b"/>
                <a:pathLst>
                  <a:path w="3200925" h="1185643" extrusionOk="0">
                    <a:moveTo>
                      <a:pt x="0" y="0"/>
                    </a:moveTo>
                    <a:lnTo>
                      <a:pt x="3200925" y="0"/>
                    </a:lnTo>
                    <a:lnTo>
                      <a:pt x="3200925" y="1185643"/>
                    </a:lnTo>
                    <a:lnTo>
                      <a:pt x="0" y="1185643"/>
                    </a:lnTo>
                    <a:close/>
                  </a:path>
                </a:pathLst>
              </a:custGeom>
              <a:solidFill>
                <a:srgbClr val="BFBB9D"/>
              </a:solidFill>
              <a:ln>
                <a:noFill/>
              </a:ln>
            </p:spPr>
          </p:sp>
          <p:sp>
            <p:nvSpPr>
              <p:cNvPr id="646" name="Google Shape;646;p10"/>
              <p:cNvSpPr txBox="1"/>
              <p:nvPr/>
            </p:nvSpPr>
            <p:spPr>
              <a:xfrm>
                <a:off x="0" y="-38100"/>
                <a:ext cx="4953300" cy="1223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2675" tIns="62675" rIns="62675" bIns="62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20"/>
                  <a:buFont typeface="Arial"/>
                  <a:buNone/>
                </a:pPr>
                <a:endParaRPr sz="222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7" name="Google Shape;647;p10"/>
            <p:cNvSpPr txBox="1"/>
            <p:nvPr/>
          </p:nvSpPr>
          <p:spPr>
            <a:xfrm>
              <a:off x="3803709" y="3056421"/>
              <a:ext cx="11033251" cy="26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75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Thank You !</a:t>
              </a:r>
              <a:endParaRPr sz="175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544</TotalTime>
  <Words>886</Words>
  <Application>Microsoft Office PowerPoint</Application>
  <PresentationFormat>Custom</PresentationFormat>
  <Paragraphs>246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Georgia</vt:lpstr>
      <vt:lpstr>Calibri</vt:lpstr>
      <vt:lpstr>Times New Roman</vt:lpstr>
      <vt:lpstr>Wingdings</vt:lpstr>
      <vt:lpstr>Trebuchet MS</vt:lpstr>
      <vt:lpstr>Arial</vt:lpstr>
      <vt:lpstr>Wingdings 3</vt:lpstr>
      <vt:lpstr>Facet</vt:lpstr>
      <vt:lpstr>PowerPoint Presentation</vt:lpstr>
      <vt:lpstr>PowerPoint Presentation</vt:lpstr>
      <vt:lpstr>Key Business Output</vt:lpstr>
      <vt:lpstr>PowerPoint Presentation</vt:lpstr>
      <vt:lpstr>NorthBay Living currently faces two major inventory problems:</vt:lpstr>
      <vt:lpstr>Business Need</vt:lpstr>
      <vt:lpstr>PowerPoint Presentation</vt:lpstr>
      <vt:lpstr>Objective</vt:lpstr>
      <vt:lpstr>PowerPoint Presentation</vt:lpstr>
      <vt:lpstr>The system converts forecast demand and inventory position into actionable risk categories.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61</cp:revision>
  <dcterms:created xsi:type="dcterms:W3CDTF">2006-08-16T00:00:00Z</dcterms:created>
  <dcterms:modified xsi:type="dcterms:W3CDTF">2026-08-16T12:10:35Z</dcterms:modified>
</cp:coreProperties>
</file>